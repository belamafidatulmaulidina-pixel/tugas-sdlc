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12" r:id="rId5"/>
    <p:sldId id="315" r:id="rId6"/>
    <p:sldId id="314" r:id="rId7"/>
    <p:sldId id="318" r:id="rId8"/>
    <p:sldId id="304" r:id="rId9"/>
    <p:sldId id="297" r:id="rId1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388" autoAdjust="0"/>
  </p:normalViewPr>
  <p:slideViewPr>
    <p:cSldViewPr snapToGrid="0" snapToObjects="1">
      <p:cViewPr varScale="1">
        <p:scale>
          <a:sx n="72" d="100"/>
          <a:sy n="72" d="100"/>
        </p:scale>
        <p:origin x="660" y="6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3200" b="0" dirty="0">
                <a:solidFill>
                  <a:schemeClr val="accent3">
                    <a:lumMod val="50000"/>
                  </a:schemeClr>
                </a:solidFill>
                <a:latin typeface="MV Boli" panose="02000500030200090000" pitchFamily="2" charset="0"/>
                <a:ea typeface="Segoe UI Black" panose="020B0A02040204020203" pitchFamily="34" charset="0"/>
                <a:cs typeface="MV Boli" panose="02000500030200090000" pitchFamily="2" charset="0"/>
              </a:rPr>
              <a:t>SLDC</a:t>
            </a:r>
            <a:br>
              <a:rPr lang="en-US" sz="3200" b="0" dirty="0">
                <a:solidFill>
                  <a:schemeClr val="accent3">
                    <a:lumMod val="50000"/>
                  </a:schemeClr>
                </a:solidFill>
                <a:latin typeface="MV Boli" panose="02000500030200090000" pitchFamily="2" charset="0"/>
                <a:ea typeface="Segoe UI Black" panose="020B0A02040204020203" pitchFamily="34" charset="0"/>
                <a:cs typeface="MV Boli" panose="02000500030200090000" pitchFamily="2" charset="0"/>
              </a:rPr>
            </a:br>
            <a:r>
              <a:rPr lang="en-US" sz="3200" b="0" dirty="0">
                <a:solidFill>
                  <a:schemeClr val="accent3">
                    <a:lumMod val="50000"/>
                  </a:schemeClr>
                </a:solidFill>
                <a:latin typeface="MV Boli" panose="02000500030200090000" pitchFamily="2" charset="0"/>
                <a:ea typeface="Segoe UI Black" panose="020B0A02040204020203" pitchFamily="34" charset="0"/>
                <a:cs typeface="MV Boli" panose="02000500030200090000" pitchFamily="2" charset="0"/>
              </a:rPr>
              <a:t>(software development life cycle)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pPr algn="ctr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sdlc</a:t>
            </a:r>
            <a:r>
              <a:rPr lang="en-US" dirty="0"/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606748" cy="2308729"/>
          </a:xfrm>
        </p:spPr>
        <p:txBody>
          <a:bodyPr>
            <a:noAutofit/>
          </a:bodyPr>
          <a:lstStyle/>
          <a:p>
            <a:r>
              <a:rPr lang="en-ID" sz="2400" b="0" u="none" strike="noStrike" dirty="0"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SDLC </a:t>
            </a:r>
            <a:r>
              <a:rPr lang="en-ID" sz="2400" b="0" u="none" strike="noStrike" dirty="0" err="1"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adalah</a:t>
            </a:r>
            <a:r>
              <a:rPr lang="en-ID" sz="2400" b="0" u="none" strike="noStrike" dirty="0"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kerangka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kerja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sistematis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dan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terstruktur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digunakan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oleh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tim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IT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merancang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,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mengembangkan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,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menguji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, dan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memelihara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perangkat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lunak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.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Siklus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ini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memandu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seluruh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proses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rekayasa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perangkat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lunak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mulai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dari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perencanaan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awal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hingga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penerapan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dan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dukungan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berkelanjutan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guna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memastikan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produk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berkualitas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tinggi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dan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memenuhi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kebutuhan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400" dirty="0" err="1">
                <a:latin typeface="MV Boli" panose="02000500030200090000" pitchFamily="2" charset="0"/>
                <a:cs typeface="MV Boli" panose="02000500030200090000" pitchFamily="2" charset="0"/>
              </a:rPr>
              <a:t>bisnis</a:t>
            </a:r>
            <a:r>
              <a:rPr lang="en-ID" sz="2400" dirty="0">
                <a:latin typeface="MV Boli" panose="02000500030200090000" pitchFamily="2" charset="0"/>
                <a:cs typeface="MV Boli" panose="02000500030200090000" pitchFamily="2" charset="0"/>
              </a:rPr>
              <a:t>. </a:t>
            </a:r>
            <a:endParaRPr lang="en-US" sz="24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542709-4118-4F78-971A-79F7E01EC7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12631" y="2541567"/>
            <a:ext cx="3284951" cy="372033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52" y="457200"/>
            <a:ext cx="7450376" cy="1082445"/>
          </a:xfrm>
        </p:spPr>
        <p:txBody>
          <a:bodyPr/>
          <a:lstStyle/>
          <a:p>
            <a:pPr algn="ctr"/>
            <a:br>
              <a:rPr lang="en-US" dirty="0"/>
            </a:br>
            <a:br>
              <a:rPr lang="en-US" dirty="0"/>
            </a:b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sldc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0C1B3B7-30EA-404C-A0AD-62EF2830ADCB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3697358" y="1539645"/>
            <a:ext cx="8094308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Kualitas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Produk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Menghasilkan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perangkat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lunak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andal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aman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,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bebas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bug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melalui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tahap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pengujian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ketat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Manajemen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Risiko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Mengurangi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risiko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proyek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bengkak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anggaran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waktu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melalui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perencanaan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matang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awal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Efisiensi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Biaya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dan Waktu: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Meminimalisir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kesalahan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(error)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menghindari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pengulangan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proses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tidak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perlu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tengah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pengembangan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Dokumentasi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Baik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Memudahkan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proses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pemeliharaan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jangka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panjang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karena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setiap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proses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didokumentasikan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secara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terstruktur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330" y="132522"/>
            <a:ext cx="8267907" cy="1113182"/>
          </a:xfrm>
        </p:spPr>
        <p:txBody>
          <a:bodyPr/>
          <a:lstStyle/>
          <a:p>
            <a:pPr algn="ctr"/>
            <a:r>
              <a:rPr lang="en-US" dirty="0"/>
              <a:t>Langkah </a:t>
            </a:r>
            <a:r>
              <a:rPr lang="en-US" dirty="0" err="1"/>
              <a:t>sdlc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51791" y="1338471"/>
            <a:ext cx="8506446" cy="4715138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1.Perencanaan (</a:t>
            </a:r>
            <a:r>
              <a:rPr kumimoji="0" lang="en-ID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Planning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):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Menentukan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ruang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lingkup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jangka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panjang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,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anggaran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tahunan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,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estimasi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sumber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daya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, dan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evaluasi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kelayakan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bisnis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di masa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depan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2.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Analisis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Kebutuhan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(</a:t>
            </a:r>
            <a:r>
              <a:rPr kumimoji="0" lang="en-ID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Analysis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):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Mengumpulkan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feedback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pengguna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secara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berkala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dan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menganalisis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tren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pasar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atau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teknologi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baru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harus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diadopsi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sistem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3. Desain (</a:t>
            </a:r>
            <a:r>
              <a:rPr kumimoji="0" lang="en-ID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Design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):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Merancang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arsitektur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sistem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fleksibel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dan modular agar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mudah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dikembangkan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atau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diintegrasikan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dengan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fitur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baru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di masa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mendatang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4.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Pembuatan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(</a:t>
            </a:r>
            <a:r>
              <a:rPr kumimoji="0" lang="en-ID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Development/Coding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): Tim </a:t>
            </a:r>
            <a:r>
              <a:rPr kumimoji="0" lang="en-ID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developer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menulis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atau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memperbarui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kode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program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berdasarkan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dokumen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desain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telah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disepakati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5. Pengujian (</a:t>
            </a:r>
            <a:r>
              <a:rPr kumimoji="0" lang="sv-SE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Testing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): Tim </a:t>
            </a:r>
            <a:r>
              <a:rPr kumimoji="0" lang="sv-SE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Quality Assurance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(QA) memastikan semua fungsi, keamanan, dan performa sistem bekerja optimal tanpa </a:t>
            </a:r>
            <a:r>
              <a:rPr kumimoji="0" lang="sv-SE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bug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6.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Penerapan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(</a:t>
            </a:r>
            <a:r>
              <a:rPr kumimoji="0" lang="en-ID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Implementation/Deployment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):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Merilis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pembaruan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atau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versi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baru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sistem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ke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lingkungan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langsung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(</a:t>
            </a:r>
            <a:r>
              <a:rPr kumimoji="0" lang="en-ID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production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) agar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dapat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ID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digunakan</a:t>
            </a:r>
            <a:r>
              <a:rPr kumimoji="0" lang="en-ID" sz="16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 oleh </a:t>
            </a:r>
            <a:r>
              <a:rPr kumimoji="0" lang="en-ID" sz="1600" b="0" i="1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V Boli" panose="02000500030200090000" pitchFamily="2" charset="0"/>
                <a:cs typeface="MV Boli" panose="02000500030200090000" pitchFamily="2" charset="0"/>
              </a:rPr>
              <a:t>user.</a:t>
            </a:r>
            <a:endParaRPr kumimoji="0" lang="en-ID" sz="1600" b="0" i="0" u="none" strike="noStrike" kern="1200" cap="none" spc="0" normalizeH="0" baseline="0" noProof="0" dirty="0">
              <a:ln>
                <a:noFill/>
              </a:ln>
              <a:solidFill>
                <a:srgbClr val="1F2C8F"/>
              </a:solidFill>
              <a:effectLst/>
              <a:uLnTx/>
              <a:uFillTx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sv-SE" sz="1600" b="0" i="0" u="none" strike="noStrike" kern="1200" cap="none" spc="0" normalizeH="0" baseline="0" noProof="0" dirty="0">
              <a:ln>
                <a:noFill/>
              </a:ln>
              <a:solidFill>
                <a:srgbClr val="1F2C8F"/>
              </a:solidFill>
              <a:effectLst/>
              <a:uLnTx/>
              <a:uFillTx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1731D4B9-039E-47DF-A36E-BAE5C682126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9088" r="19088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304" y="816016"/>
            <a:ext cx="5642776" cy="1595879"/>
          </a:xfrm>
        </p:spPr>
        <p:txBody>
          <a:bodyPr/>
          <a:lstStyle/>
          <a:p>
            <a:r>
              <a:rPr lang="en-US" dirty="0" err="1"/>
              <a:t>kesimpulan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08" y="2902226"/>
            <a:ext cx="6835471" cy="3955773"/>
          </a:xfrm>
        </p:spPr>
        <p:txBody>
          <a:bodyPr>
            <a:normAutofit/>
          </a:bodyPr>
          <a:lstStyle/>
          <a:p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Software Development Life Cycle (SDLC)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adalah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kerangka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kerja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terstruktur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wajib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digunakan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menghasilkan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perangkat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lunak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berkualitas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tinggi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secara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efisien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,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tepat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waktu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, dan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sesuai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u="none" strike="noStrike" dirty="0" err="1">
                <a:latin typeface="MV Boli" panose="02000500030200090000" pitchFamily="2" charset="0"/>
                <a:cs typeface="MV Boli" panose="02000500030200090000" pitchFamily="2" charset="0"/>
              </a:rPr>
              <a:t>anggaran</a:t>
            </a:r>
            <a:r>
              <a:rPr lang="en-ID" sz="2000" u="none" strike="noStrike" dirty="0"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  <a:endParaRPr lang="en-US" sz="2000" u="none" strike="noStrike" dirty="0">
              <a:latin typeface="MV Boli" panose="02000500030200090000" pitchFamily="2" charset="0"/>
              <a:cs typeface="MV Boli" panose="02000500030200090000" pitchFamily="2" charset="0"/>
            </a:endParaRPr>
          </a:p>
          <a:p>
            <a:endParaRPr lang="en-ID" sz="1400" b="1" u="none" strike="noStrike" dirty="0">
              <a:effectLst/>
              <a:latin typeface="Google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i="1" dirty="0"/>
              <a:t>Thank </a:t>
            </a:r>
            <a:br>
              <a:rPr lang="en-US" i="1" dirty="0"/>
            </a:br>
            <a:r>
              <a:rPr lang="en-US" i="1" dirty="0"/>
              <a:t>you^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>
            <a:normAutofit/>
          </a:bodyPr>
          <a:lstStyle/>
          <a:p>
            <a:r>
              <a:rPr lang="en-US" i="1" dirty="0">
                <a:latin typeface="Gabriola" panose="04040605051002020D02" pitchFamily="82" charset="0"/>
              </a:rPr>
              <a:t>Bela </a:t>
            </a:r>
            <a:r>
              <a:rPr lang="en-US" i="1" dirty="0" err="1">
                <a:latin typeface="Gabriola" panose="04040605051002020D02" pitchFamily="82" charset="0"/>
              </a:rPr>
              <a:t>Mafidatul</a:t>
            </a:r>
            <a:r>
              <a:rPr lang="en-US" i="1" dirty="0">
                <a:latin typeface="Gabriola" panose="04040605051002020D02" pitchFamily="82" charset="0"/>
              </a:rPr>
              <a:t> </a:t>
            </a:r>
            <a:r>
              <a:rPr lang="en-US" i="1" dirty="0" err="1">
                <a:latin typeface="Gabriola" panose="04040605051002020D02" pitchFamily="82" charset="0"/>
              </a:rPr>
              <a:t>Maulidina</a:t>
            </a:r>
            <a:endParaRPr lang="en-US" i="1" dirty="0">
              <a:latin typeface="Gabriola" panose="04040605051002020D02" pitchFamily="82" charset="0"/>
            </a:endParaRPr>
          </a:p>
          <a:p>
            <a:r>
              <a:rPr lang="en-US" i="1" dirty="0">
                <a:latin typeface="Gabriola" panose="04040605051002020D02" pitchFamily="82" charset="0"/>
              </a:rPr>
              <a:t>X RPL-A (ACP)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{1BC2F265-4DB3-4941-8DC6-F521DF1C21D9}TF8a9b5915-b8c7-461e-8cdd-693d48b5e32371f7b7e2_win32-4bf0b9a2ea37</Template>
  <TotalTime>132</TotalTime>
  <Words>343</Words>
  <Application>Microsoft Office PowerPoint</Application>
  <PresentationFormat>Widescreen</PresentationFormat>
  <Paragraphs>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 Black</vt:lpstr>
      <vt:lpstr>Calibri</vt:lpstr>
      <vt:lpstr>Gabriola</vt:lpstr>
      <vt:lpstr>Google Sans</vt:lpstr>
      <vt:lpstr>MV Boli</vt:lpstr>
      <vt:lpstr>Sabon Next LT</vt:lpstr>
      <vt:lpstr>Custom</vt:lpstr>
      <vt:lpstr>SLDC (software development life cycle)</vt:lpstr>
      <vt:lpstr>Apa itu sdlc?</vt:lpstr>
      <vt:lpstr>  tujuan sldc </vt:lpstr>
      <vt:lpstr>Langkah sdlc</vt:lpstr>
      <vt:lpstr>kesimpulan</vt:lpstr>
      <vt:lpstr>Thank  you^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SLDC (software development life cycle)</dc:title>
  <dc:subject/>
  <dc:creator>LAB RPL 2 - PC 26</dc:creator>
  <cp:lastModifiedBy>LAB RPL 2 - PC 26</cp:lastModifiedBy>
  <cp:revision>10</cp:revision>
  <dcterms:created xsi:type="dcterms:W3CDTF">2026-07-21T04:36:24Z</dcterms:created>
  <dcterms:modified xsi:type="dcterms:W3CDTF">2026-07-21T07:06:50Z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